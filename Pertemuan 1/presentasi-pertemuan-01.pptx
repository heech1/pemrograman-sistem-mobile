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38100"/>
          </a:xfrm>
          <a:prstGeom prst="rect">
            <a:avLst/>
          </a:prstGeom>
          <a:solidFill>
            <a:srgbClr val="177E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9FC3E0"/>
                </a:solidFill>
                <a:latin typeface="Calibri"/>
              </a:rPr>
              <a:t>PEMROGRAMAN SISTEM MOBILE · INF622301 · 3 SKS · SEMESTER 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Pengantar Mata Kuliah &amp; Arsitektur Sistem Mobile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FE0EE"/>
                </a:solidFill>
                <a:latin typeface="Calibri"/>
              </a:rPr>
              <a:t>Pertemuan 1 — Mode Daring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6070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6CCDD"/>
                </a:solidFill>
                <a:latin typeface="Calibri"/>
              </a:rPr>
              <a:t>Kontrak kuliah &amp; RPS   •   Sistem mobile &amp; ekosistem   •   Arsitektur aplikasi   •   Lapisan &amp; siklus hidup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TENTANG MATA KULIAH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Identitas &amp; Posisi Mata Kuliah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79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183879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Keterangan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Kode / Beban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INF622301 · 3 SKS · Semester 5 · Kurikulum 2022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Prasyarat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Pemrograman Berorientasi Objek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CPMK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CPMK-PSM-01 — konsep dasar pemrograman sistem mobile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(arsitektur, UI, manajemen sumber daya)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Sub-CPMK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SCPMK-PSM-01-01 — mahasiswa mampu memahami arsitektur sistem mobile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Mode &amp; durasi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Daring (sinkron) · 170 menit ≈ 3 × 50 menit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Penilaian pertemuan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Non-tes — observasi partisipasi diskusi (bobot 0%)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Referensi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[1] Phillips, Android Programming (Big Nerd Ranch) Bab 1–2  ·  [4] Raharjo Bab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CAPAIAN AKHIR PERTEMUAN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Setelah Pertemuan Ini, Mahasiswa Mampu…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202933"/>
                </a:solidFill>
                <a:latin typeface="Calibri"/>
              </a:rPr>
              <a:t>•  Menjelaskan apa yang membuat sistem mobile berbeda dari sistem komputasi lain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202933"/>
                </a:solidFill>
                <a:latin typeface="Calibri"/>
              </a:rPr>
              <a:t>•  Memetakan ekosistem Android dan iOS beserta konsekuensinya bagi pengembang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202933"/>
                </a:solidFill>
                <a:latin typeface="Calibri"/>
              </a:rPr>
              <a:t>•  Membedakan empat jenis arsitektur aplikasi mobile dan memberi argumen kapan masing-masing tepat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202933"/>
                </a:solidFill>
                <a:latin typeface="Calibri"/>
              </a:rPr>
              <a:t>•  Menguraikan pemisahan lapisan presentasi – logika bisnis – data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202933"/>
                </a:solidFill>
                <a:latin typeface="Calibri"/>
              </a:rPr>
              <a:t>•  Menjelaskan gagasan siklus hidup aplikasi dan mengapa wajib dipahami sejak awal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PETA PERTEMUAN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Rundown 170 Menit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8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371600"/>
                <a:gridCol w="672084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Segmen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Durasi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Isi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Pembuka &amp; presensi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10 mnt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Sapaan, cek kesiapan daring, tujuan pertemuan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Kontrak Kuliah &amp; RPS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35 mnt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Aturan main, komponen nilai, alur 16 pertemuan, proyek akhir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Sesi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45 mnt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Sistem mobile &amp; ekosistem Android/iOS + diskusi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Sesi 2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50 mnt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Arsitektur aplikasi + tabel perbandingan + lapisan + diskusi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Penutup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15 mnt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Ringkasan, alur MK, tugas asinkron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3606D"/>
                </a:solidFill>
                <a:latin typeface="Calibri"/>
              </a:rPr>
              <a:t>Daring: bagikan RPS &amp; slide di LMS sebelum kelas; aktifkan poll/chat; rekam sesi.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822960" cy="109728"/>
          </a:xfrm>
          <a:prstGeom prst="rect">
            <a:avLst/>
          </a:prstGeom>
          <a:solidFill>
            <a:srgbClr val="177E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FC9C5"/>
                </a:solidFill>
                <a:latin typeface="Calibri"/>
              </a:rPr>
              <a:t>SEGMEN 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Kontrak Kuliah &amp; Pembahasan RPS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4297680"/>
            <a:ext cx="104241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Kesepakatan kelas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Struktur penilaian 100%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Alur 16 pertemuan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Gambaran proyek akhir (pengganti UAS)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A.1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Kesepakatan Kelas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Kehadiran minimal 75% sebagai syarat penilaian akhir; toleransi terlambat 15 menit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Etika daring: kamera nyala saat diskusi/presentasi, mikrofon mute default, bertanya via raise hand / chat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Komunikasi lewat kanal resmi (LMS / grup kelas) dengan jam respons yang disepakati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Integritas akademik: definisi plagiarisme kode; AI assistant boleh untuk belajar, wajib dapat dijelaskan ulang saat responsi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Keterlambatan tugas: ada skema pengurangan nilai dan batas maksimal keterlambatan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A.2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Struktur Penilaian — Total 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80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/>
                <a:gridCol w="365760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Komponen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Pertemuan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Bobot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Kuis (studi kasus)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2, 4, 7, 9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Responsi (tes lisan)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3, 13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Problem Based Learning (tugas)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10, 11, 13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Laporan Praktikum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5, 6, 12, 14, 15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Proyek Akhir + Presentasi (pengganti UAS)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029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3606D"/>
                </a:solidFill>
                <a:latin typeface="Calibri"/>
              </a:rPr>
              <a:t>Tidak ada UAS tertulis — 20% terakhir dari proyek kelompok. Kerja proyek dimulai jauh sebelum Pertemuan 16.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A.3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Alur 16 Pertemuan — Empat Blok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8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188720"/>
                <a:gridCol w="4206240"/>
                <a:gridCol w="315468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Blok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Pertemuan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Fokus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Muara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I. Fondasi konsep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Arsitektur, UI/UX, manajemen sumber daya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Paham mengapa aplikasi mobile dirancang demikian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II. Membangun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4–7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Toolchain, desain responsif, implementasi, pengujian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Bisa membuat aplikasi sederhana yang teruji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III. Perluasan &amp; kolaborasi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9–12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Framework lintas platform, Git, manajemen proyek, presentasi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Siap bekerja tim &amp; mengelola proyek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IV. Proyek akhir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13–16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Integrasi, bimbingan, finalisasi, demo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Produk aplikasi + presentasi (pengganti UAS)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Asesmen blok I–II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0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A.4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Gambaran Proyek Akhir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202933"/>
                </a:solidFill>
                <a:latin typeface="Calibri"/>
              </a:rPr>
              <a:t>•  Dikerjakan berkelompok (3–4 orang); tema: aplikasi mobile yang fungsional &amp; responsif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202933"/>
                </a:solidFill>
                <a:latin typeface="Calibri"/>
              </a:rPr>
              <a:t>•  Wajib: version control (Git/GitHub), dokumentasi teknis, laporan, live demo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202933"/>
                </a:solidFill>
                <a:latin typeface="Calibri"/>
              </a:rPr>
              <a:t>•  Dinilai: kualitas aplikasi (fungsionalitas, UI, kinerja), kualitas presentasi/demo, kelengkapan dokumentasi, kontribusi individu (peer + dosen)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202933"/>
                </a:solidFill>
                <a:latin typeface="Calibri"/>
              </a:rPr>
              <a:t>•  Mulai sekarang: pikirkan masalah nyata di sekitar kalian yang bisa dibantu aplikasi mobile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50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280160" cy="109728"/>
          </a:xfrm>
          <a:prstGeom prst="rect">
            <a:avLst/>
          </a:prstGeom>
          <a:solidFill>
            <a:srgbClr val="7FC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ED6CE"/>
                </a:solidFill>
                <a:latin typeface="Calibri"/>
              </a:rPr>
              <a:t>PERTANYAAN PEMANTIK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Kontrak Kuliah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42416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1.  Mengapa mata kuliah ini mengganti UAS dengan proyek kelompok? Apa yang bisa diukur proyek yang tidak bisa diukur ujian tulis — dan sebaliknya?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2.  Aturan penggunaan AI assistant: di titik mana bantuan AI berhenti menjadi “belajar” dan mulai menjadi “kecurangan”? Rumuskan batas versi kalian sendiri.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424160" cy="566928"/>
          </a:xfrm>
          <a:prstGeom prst="rect">
            <a:avLst/>
          </a:prstGeom>
          <a:solidFill>
            <a:srgbClr val="0B3E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CFEAE5"/>
                </a:solidFill>
                <a:latin typeface="Calibri"/>
              </a:rPr>
              <a:t>Diskusikan lewat chat/poll — jawaban kalian menjadi bagian dari kesepakatan kelas.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822960" cy="109728"/>
          </a:xfrm>
          <a:prstGeom prst="rect">
            <a:avLst/>
          </a:prstGeom>
          <a:solidFill>
            <a:srgbClr val="177E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FC9C5"/>
                </a:solidFill>
                <a:latin typeface="Calibri"/>
              </a:rPr>
              <a:t>SESI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Pengertian Sistem Mobile &amp; Ekosistemnya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4297680"/>
            <a:ext cx="104241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Apa itu “sistem mobile”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Ekosistem Android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Ekosistem iOS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Android vs iOS &amp; mengapa kelas ini memakai Android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Apa Itu “Sistem Mobile”?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02933"/>
                </a:solidFill>
                <a:latin typeface="Calibri"/>
              </a:rPr>
              <a:t>•  Perangkat komputasi personal, bertenaga baterai, terkoneksi nirkabel, antarmuka sentuh &amp; sensor kaya, dipakai dalam konteks yang terus berubah</a:t>
            </a:r>
          </a:p>
          <a:p>
            <a:pPr lvl="1"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3606D"/>
                </a:solidFill>
                <a:latin typeface="Calibri"/>
              </a:rPr>
              <a:t>–  Sumber daya terbatas &amp; bervariasi — CPU/RAM/penyimpanan kecil &amp; beragam; baterai adalah anggaran</a:t>
            </a:r>
          </a:p>
          <a:p>
            <a:pPr lvl="1"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3606D"/>
                </a:solidFill>
                <a:latin typeface="Calibri"/>
              </a:rPr>
              <a:t>–  Konektivitas tidak stabil — aplikasi harus tetap berguna saat sinyal buruk / tidak ada</a:t>
            </a:r>
          </a:p>
          <a:p>
            <a:pPr lvl="1"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3606D"/>
                </a:solidFill>
                <a:latin typeface="Calibri"/>
              </a:rPr>
              <a:t>–  Interupsi adalah norma — telepon, notifikasi, pindah aplikasi; OS bebas menghentikan aplikasi → lahir konsep lifecycle</a:t>
            </a:r>
          </a:p>
          <a:p>
            <a:pPr lvl="1"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3606D"/>
                </a:solidFill>
                <a:latin typeface="Calibri"/>
              </a:rPr>
              <a:t>–  Konteks &amp; sensor — lokasi, kamera, biometrik: peluang sekaligus tanggung jawab privasi</a:t>
            </a:r>
          </a:p>
          <a:p>
            <a:pPr lvl="1"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3606D"/>
                </a:solidFill>
                <a:latin typeface="Calibri"/>
              </a:rPr>
              <a:t>–  Distribusi terkurasi lewat store; layar kecil → desain memprioritaskan tugas utama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806440"/>
            <a:ext cx="10881360" cy="6035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F4D78"/>
                </a:solidFill>
                <a:latin typeface="Calibri"/>
              </a:rPr>
              <a:t>Kontras dengan desktop/web klasik: sumber daya melimpah, jaringan diasumsikan ada, proses jarang dimatikan paksa, layar besar.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1.2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Ekosistem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Pengembang platform: Google — kernel Linux, AOSP + layanan Google (GMS)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Bahasa &amp; tools: Kotlin (utama, resmi sejak 2019) &amp; Java; Android Studio (IntelliJ); build system Gradle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Model rilis: fragmentasi versi OS &amp; perangkat dari banyak pabrikan → pengujian lintas perangkat jadi isu nyata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Distribusi: Google Play Store (dominan) + store alternatif + sideloading APK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Filosofi: terbuka, fleksibel, akses perangkat keras luas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1.3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Ekosistem 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Pengembang platform: Apple — hanya berjalan di perangkat Apple (iPhone/iPad)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Bahasa &amp; tools: Swift (utama) &amp; Objective-C; Xcode (hanya di macOS); butuh akun Apple Developer berbayar untuk rilis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Model rilis: perangkat &amp; versi OS terbatas dan seragam → adopsi versi baru cepat, pengujian lebih sederhana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Distribusi: App Store saja; proses review lebih ketat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Filosofi: terkurasi, konsisten, privasi &amp; pengalaman pengguna sebagai nilai jual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1.4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Android vs iOS — Ringkas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8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297680"/>
                <a:gridCol w="388620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Google + banyak OEM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Apple saja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Bahasa utama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Kotlin / Java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Swift / Objective-C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Android Studio (Win/Mac/Linux)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Xcode (macOS saja)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Fragmentasi perangkat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Rendah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Distribusi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Play Store + alternatif + sideload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App Store saja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Biaya akun developer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Sekali bayar (~USD 25)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Langganan tahunan (~USD 99)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Karakter pasar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Volume besar, harga beragam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02933"/>
                          </a:solidFill>
                          <a:latin typeface="Calibri"/>
                        </a:rPr>
                        <a:t>ARPU tinggi, pasar premium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1.5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Mengapa Kelas Ini Fokus ke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0" i="0">
                <a:solidFill>
                  <a:srgbClr val="202933"/>
                </a:solidFill>
                <a:latin typeface="Calibri"/>
              </a:rPr>
              <a:t>•  Toolchain lintas platform (Windows / macOS / Linux) dan gratis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0" i="0">
                <a:solidFill>
                  <a:srgbClr val="202933"/>
                </a:solidFill>
                <a:latin typeface="Calibri"/>
              </a:rPr>
              <a:t>•  Tanpa perangkat Apple; dokumentasi berlimpah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0" i="0">
                <a:solidFill>
                  <a:srgbClr val="202933"/>
                </a:solidFill>
                <a:latin typeface="Calibri"/>
              </a:rPr>
              <a:t>•  Konsep inti (Activity, lifecycle, layout, Gradle) mudah ditransfer ke iOS maupun framework lintas platform (Pertemuan 9)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50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280160" cy="109728"/>
          </a:xfrm>
          <a:prstGeom prst="rect">
            <a:avLst/>
          </a:prstGeom>
          <a:solidFill>
            <a:srgbClr val="7FC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ED6CE"/>
                </a:solidFill>
                <a:latin typeface="Calibri"/>
              </a:rPr>
              <a:t>PERTANYAAN PEMANTIK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Sesi 1 — Sistem Mobile &amp; Ekosistemnya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42416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1.  Jika sebuah startup Indonesia hanya bisa merilis satu platform lebih dulu, data dan pertimbangan apa yang menentukan pilihan Android atau iOS?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2.  “Fragmentasi Android adalah kutukan sekaligus berkah.” Bela kedua sisi pernyataan ini dari sudut pandang pengembang.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3.  Interupsi (telepon masuk saat mengisi formulir) memaksa munculnya konsep lifecycle. Apa satu keputusan desain aplikasi desktop yang akan gagal total bila dipindah mentah ke mobile?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822960" cy="109728"/>
          </a:xfrm>
          <a:prstGeom prst="rect">
            <a:avLst/>
          </a:prstGeom>
          <a:solidFill>
            <a:srgbClr val="177E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FC9C5"/>
                </a:solidFill>
                <a:latin typeface="Calibri"/>
              </a:rPr>
              <a:t>SESI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Arsitektur Aplikasi Mobile &amp; Komponen Arsitekturnya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4297680"/>
            <a:ext cx="104241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Empat pendekatan membangun aplikasi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Tabel perbandingan arsitektur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Pemisahan lapisan presentasi–logika–data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8E6"/>
                </a:solidFill>
                <a:latin typeface="Calibri"/>
              </a:rPr>
              <a:t>—  Siklus hidup &amp; komponen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Empat Pendekatan Membangun Aplikasi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02933"/>
                </a:solidFill>
                <a:latin typeface="Calibri"/>
              </a:rPr>
              <a:t>•  Native — bahasa &amp; SDK resmi platform (Kotlin/Java, Swift). Akses penuh API, performa terbaik, tampilan sesuai platform. Biaya: satu basis kode per platform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02933"/>
                </a:solidFill>
                <a:latin typeface="Calibri"/>
              </a:rPr>
              <a:t>•  Cross-platform — satu basis kode ke banyak platform (Flutter/Dart, React Native/JS). Produktivitas tinggi, performa mendekati native, sebagian API perlu plugin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02933"/>
                </a:solidFill>
                <a:latin typeface="Calibri"/>
              </a:rPr>
              <a:t>•  Hybrid (WebView) — aplikasi web dibungkus kontainer native (Cordova/Ionic). Cepat dibuat bila tim berlatar web; performa &amp; “rasa native” paling lemah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02933"/>
                </a:solidFill>
                <a:latin typeface="Calibri"/>
              </a:rPr>
              <a:t>•  PWA / mobile web app — situs web responsif yang bisa “dipasang”, offline terbatas via service worker. Tanpa store; akses sensor &amp; integrasi OS paling terbatas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Perbandingan Jenis Arsitektur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80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331720"/>
                <a:gridCol w="2194560"/>
                <a:gridCol w="210312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Kriteria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Cross-platform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Hybrid (WebView)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PWA / Web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Basis kode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Terpisah per platform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Satu untuk semua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Satu (web) + wrapper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Satu (web)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Bahasa khas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Kotlin/Java, Swift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Dart, JS/TS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HTML/CSS/JS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HTML/CSS/JS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Performa &amp; animasi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Terbaik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Mendekati native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Cukup–rendah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Bergantung browser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Akses API perangkat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Penuh, tercepat dapat fitur baru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Luas, sebagian via plugin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Terbatas, via plugin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Paling terbatas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Kecocokan UI platform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Native penuh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Konsisten, bisa native-look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Sering terasa “web”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Terasa “web”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Kecepatan pengembangan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Paling lambat (2×)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Cepat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Cepat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Paling cepat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Perbandingan Jenis Arsitektur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8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331720"/>
                <a:gridCol w="2194560"/>
                <a:gridCol w="210312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Kriteria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Cross-platform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Hybrid (WebView)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PWA / Web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Ukuran aplikasi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Kecil–sedang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Sedang–besar (runtime)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Sangat kecil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Distribusi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URL (opsional store)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Biaya pemeliharaan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Tinggi (dua tim)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Rendah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Contoh alat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Android SDK, Xcode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Flutter, React Native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Ionic, Cordova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Workbox, Lighthouse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Paling cocok untuk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Game, aplikasi kaya fitur perangkat, performa/UX tertinggi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Produk bisnis lintas platform, tim terbatas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Aplikasi konten/form sederhana, MVP internal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02933"/>
                          </a:solidFill>
                          <a:latin typeface="Calibri"/>
                        </a:rPr>
                        <a:t>Katalog, berita, layanan ringan tanpa friksi instal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3606D"/>
                </a:solidFill>
                <a:latin typeface="Calibri"/>
              </a:rPr>
              <a:t>Tidak ada yang “terbaik” — hanya “paling tepat untuk konteks tertentu”.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2.3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Komponen Arsitektur — Pemisahan Lapisan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80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834640"/>
                <a:gridCol w="3200400"/>
                <a:gridCol w="288036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Lapisan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Tanggung jawab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Contoh di Android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Tidak boleh ada di sini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Presentasi (UI)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Menampilkan data, menangkap input, navigasi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Activity, Fragment, Composable, XML layout, ViewModel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Query database, aturan bisnis, panggilan jaringan langsung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Logika bisnis (domain)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Aturan &amp; alur kerja, validasi, use case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UseCase / Interactor, entitas domain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Detail UI, detail penyimpanan (nama tabel, endpoint)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Menyediakan &amp; menyimpan data dari berbagai sumber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Repository, Room/SQLite, Retrofit, SharedPreferences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02933"/>
                          </a:solidFill>
                          <a:latin typeface="Calibri"/>
                        </a:rPr>
                        <a:t>Aturan bisnis, referensi ke widget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2.3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Mengapa Memisahkan Lapisan?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Aturan ketergantungan: Presentasi → Domain → Data (lapisan dalam tidak tahu apa-apa soal lapisan luar)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Mudah diuji — logika bisnis dapat diuji tanpa emulator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Mudah diganti — SQLite → API tanpa menyentuh UI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Mudah dikerjakan paralel dalam tim — relevan untuk proyek akhir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2933"/>
                </a:solidFill>
                <a:latin typeface="Calibri"/>
              </a:rPr>
              <a:t>•  Pola populer yang mengoperasikan ide ini: MVC, MVP, MVVM, MVI, Clean Architecture (dipakai konkret mulai Pertemuan 6)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806440"/>
            <a:ext cx="10881360" cy="6035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F4D78"/>
                </a:solidFill>
                <a:latin typeface="Calibri"/>
              </a:rPr>
              <a:t>Ini kelanjutan langsung dari prinsip OOP: separation of concerns &amp; single responsibility.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2.4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Siklus Hidup Aplikasi &amp; Komponen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02933"/>
                </a:solidFill>
                <a:latin typeface="Calibri"/>
              </a:rPr>
              <a:t>•  OS mobile mengendalikan hidup-mati aplikasi demi menghemat sumber daya; aplikasi hanya bereaksi lewat callback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02933"/>
                </a:solidFill>
                <a:latin typeface="Calibri"/>
              </a:rPr>
              <a:t>•  Android — empat komponen: Activity (satu layar), Service (kerja latar), BroadcastReceiver (reaksi kejadian sistem), ContentProvider (berbagi data)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02933"/>
                </a:solidFill>
                <a:latin typeface="Calibri"/>
              </a:rPr>
              <a:t>•  Dijembatani Intent; dideklarasikan di AndroidManifest.xml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02933"/>
                </a:solidFill>
                <a:latin typeface="Calibri"/>
              </a:rPr>
              <a:t>•  Lifecycle Activity: onCreate → onStart → onResume → [berjalan] → onPause → onStop → onDestroy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02933"/>
                </a:solidFill>
                <a:latin typeface="Calibri"/>
              </a:rPr>
              <a:t>•  Rotasi layar menghancurkan &amp; membuat ulang Activity → sumber kesalahan klasik (state hilang)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02933"/>
                </a:solidFill>
                <a:latin typeface="Calibri"/>
              </a:rPr>
              <a:t>•  iOS punya padanan (app states: active / inactive / background / suspended). Detail penuh → Pertemuan 3 &amp;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50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280160" cy="109728"/>
          </a:xfrm>
          <a:prstGeom prst="rect">
            <a:avLst/>
          </a:prstGeom>
          <a:solidFill>
            <a:srgbClr val="7FC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ED6CE"/>
                </a:solidFill>
                <a:latin typeface="Calibri"/>
              </a:rPr>
              <a:t>PERTANYAAN PEMANTIK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Sesi 2 — Arsitektur Aplikasi &amp; Lapisannya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42416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1.  Sebuah bank ingin aplikasi mobile banking; sebuah media ingin aplikasi baca berita. Untuk masing-masing, pilih satu pendekatan arsitektur dan pertahankan dengan minimal tiga argumen.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2.  Kapan native lebih tepat daripada cross-platform, dan kapan sebaliknya? Buat masing-masing satu skenario konkret (kendala tim, anggaran, target pengguna).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3.  Lapisan presentasi tidak boleh query database langsung. Apa konsekuensi nyata (pengujian, kerja tim, perubahan masa depan) bila aturan ini dilanggar “demi cepat”?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822960" cy="109728"/>
          </a:xfrm>
          <a:prstGeom prst="rect">
            <a:avLst/>
          </a:prstGeom>
          <a:solidFill>
            <a:srgbClr val="177E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FC9C5"/>
                </a:solidFill>
                <a:latin typeface="Calibri"/>
              </a:rPr>
              <a:t>PENUTUP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Ringkasan, Alur Mata Kuliah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RINGKASAN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Ringkasan Pertemuan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02933"/>
                </a:solidFill>
                <a:latin typeface="Calibri"/>
              </a:rPr>
              <a:t>•  Sistem mobile dibentuk oleh keterbatasan: sumber daya, konektivitas, interupsi, layar kecil — semua keputusan teknik berakar di sini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02933"/>
                </a:solidFill>
                <a:latin typeface="Calibri"/>
              </a:rPr>
              <a:t>•  Dua ekosistem besar: Android (terbuka, terfragmentasi, Kotlin/Java, gratis) dan iOS (terkurasi, seragam, Swift, butuh perangkat &amp; akun Apple)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02933"/>
                </a:solidFill>
                <a:latin typeface="Calibri"/>
              </a:rPr>
              <a:t>•  Empat pendekatan membangun: native, cross-platform, hybrid, PWA — pilih sesuai konteks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02933"/>
                </a:solidFill>
                <a:latin typeface="Calibri"/>
              </a:rPr>
              <a:t>•  Aplikasi sehat memisahkan presentasi – logika bisnis – data (kelanjutan prinsip OOP)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02933"/>
                </a:solidFill>
                <a:latin typeface="Calibri"/>
              </a:rPr>
              <a:t>•  OS mengatur siklus hidup aplikasi; kita hanya bereaksi lewat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JEMBATAN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Ke Pertemuan Berikutnya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927080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3840480"/>
                <a:gridCol w="580644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Pertemuan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Topik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Kaitan dengan hari ini</a:t>
                      </a:r>
                    </a:p>
                  </a:txBody>
                  <a:tcPr marL="54864" marR="54864" marT="18288" marB="18288" anchor="ctr">
                    <a:solidFill>
                      <a:srgbClr val="1F4D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Prinsip &amp; alat desain UI/UX mobile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Memperdalam lapisan presentasi; siapkan untuk kuis studi kasus (5%)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Manajemen memori, CPU, baterai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Memperdalam “keterbatasan sumber daya” &amp; siklus hidup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Toolchain: Android Studio, Gradle, emulator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02933"/>
                          </a:solidFill>
                          <a:latin typeface="Calibri"/>
                        </a:rPr>
                        <a:t>Mulai hands-on; pastikan laptop siap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TUGAS ASINKRON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D78"/>
                </a:solidFill>
                <a:latin typeface="Calibri"/>
              </a:rPr>
              <a:t>Bukti Keterlibatan (Non-tes)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C5D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846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02933"/>
                </a:solidFill>
                <a:latin typeface="Calibri"/>
              </a:rPr>
              <a:t>•  Instalasi awal (untuk Pertemuan 4): unduh Android Studio versi stabil terbaru; siapkan laptop (RAM ideal ≥ 8 GB); catat kendala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02933"/>
                </a:solidFill>
                <a:latin typeface="Calibri"/>
              </a:rPr>
              <a:t>•  Refleksi singkat (½–1 halaman, kumpulkan di LMS): pilih satu aplikasi yang kalian pakai tiap hari — tebak pendekatan arsitekturnya + alasan, lalu identifikasi ketiga lapisan (presentasi/logika/data) dari fitur yang kalian amati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02933"/>
                </a:solidFill>
                <a:latin typeface="Calibri"/>
              </a:rPr>
              <a:t>•  Baca: [1] Phillips Bab 1 (Your First Android Application) sebagai gambaran; [4] Bab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50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280160" cy="109728"/>
          </a:xfrm>
          <a:prstGeom prst="rect">
            <a:avLst/>
          </a:prstGeom>
          <a:solidFill>
            <a:srgbClr val="7FC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ED6CE"/>
                </a:solidFill>
                <a:latin typeface="Calibri"/>
              </a:rPr>
              <a:t>PERTANYAAN PEMANTIK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Refleksi Penutup — Memetakan Lanskap Sebelum Menyelam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42416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1.  Dari semua yang dibahas hari ini, satu hal apa yang paling mengubah cara kalian memandang aplikasi di ponsel kalian sendiri?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2.  Aplikasi mana yang kalian pakai setiap hari yang menurut kalian “salah pilih” arsitektur — dan apa yang membuat kalian berpikir begitu?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3.  Jika hari ini kalian harus memulai proyek akhir, masalah nyata apa yang ingin kalian selesaikan dengan aplikasi mobile, dan pendekatan arsitektur apa yang kalian bayangkan?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424160" cy="566928"/>
          </a:xfrm>
          <a:prstGeom prst="rect">
            <a:avLst/>
          </a:prstGeom>
          <a:solidFill>
            <a:srgbClr val="0B3E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CFEAE5"/>
                </a:solidFill>
                <a:latin typeface="Calibri"/>
              </a:rPr>
              <a:t>Bawa jawaban no. 3 ke Pertemuan 10 (pembentukan kelompok &amp; penentuan lingkup proyek).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822960" cy="109728"/>
          </a:xfrm>
          <a:prstGeom prst="rect">
            <a:avLst/>
          </a:prstGeom>
          <a:solidFill>
            <a:srgbClr val="177E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Selamat Datang di Pemrograman Sistem Mobile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C7D8E6"/>
                </a:solidFill>
                <a:latin typeface="Calibri"/>
              </a:rPr>
              <a:t>•  Hari ini: memetakan lanskap. Minggu depan: mulai membangun.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C7D8E6"/>
                </a:solidFill>
                <a:latin typeface="Calibri"/>
              </a:rPr>
              <a:t>•  Bahan di LMS — slide, RPS lengkap, rekaman sesi, tautan developer.android.com / material.io / HIG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C7D8E6"/>
                </a:solidFill>
                <a:latin typeface="Calibri"/>
              </a:rPr>
              <a:t>•  Sampai jumpa di Pertemuan 2 — Prinsip &amp; Alat Bantu Desain UI/UX Mobile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Pemrograman Sistem Mobile — Pertemuan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858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6D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